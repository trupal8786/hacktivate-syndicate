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49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B000E-CFA9-402D-B1BA-947DCC95FBFC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F333E-2D43-47CB-B441-1D0F1399B9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678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F333E-2D43-47CB-B441-1D0F1399B96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115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59069" y="190500"/>
            <a:ext cx="24606138" cy="10471039"/>
            <a:chOff x="882695" y="410289"/>
            <a:chExt cx="32808184" cy="13961385"/>
          </a:xfrm>
        </p:grpSpPr>
        <p:sp>
          <p:nvSpPr>
            <p:cNvPr id="3" name="Freeform 3"/>
            <p:cNvSpPr/>
            <p:nvPr/>
          </p:nvSpPr>
          <p:spPr>
            <a:xfrm>
              <a:off x="11289895" y="410289"/>
              <a:ext cx="1613795" cy="1621335"/>
            </a:xfrm>
            <a:custGeom>
              <a:avLst/>
              <a:gdLst/>
              <a:ahLst/>
              <a:cxnLst/>
              <a:rect l="l" t="t" r="r" b="b"/>
              <a:pathLst>
                <a:path w="1613795" h="1621335">
                  <a:moveTo>
                    <a:pt x="0" y="0"/>
                  </a:moveTo>
                  <a:lnTo>
                    <a:pt x="1613795" y="0"/>
                  </a:lnTo>
                  <a:lnTo>
                    <a:pt x="1613795" y="1621335"/>
                  </a:lnTo>
                  <a:lnTo>
                    <a:pt x="0" y="16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2000"/>
              </a:blip>
              <a:stretch>
                <a:fillRect l="-233" r="-233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2581333" y="589563"/>
              <a:ext cx="10915277" cy="1652969"/>
            </a:xfrm>
            <a:custGeom>
              <a:avLst/>
              <a:gdLst/>
              <a:ahLst/>
              <a:cxnLst/>
              <a:rect l="l" t="t" r="r" b="b"/>
              <a:pathLst>
                <a:path w="10915277" h="1652969">
                  <a:moveTo>
                    <a:pt x="0" y="0"/>
                  </a:moveTo>
                  <a:lnTo>
                    <a:pt x="10915277" y="0"/>
                  </a:lnTo>
                  <a:lnTo>
                    <a:pt x="10915277" y="1652970"/>
                  </a:lnTo>
                  <a:lnTo>
                    <a:pt x="0" y="1652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068" t="-24737" b="-4436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 rot="5400000">
              <a:off x="19190589" y="2987240"/>
              <a:ext cx="9193665" cy="8510196"/>
              <a:chOff x="-61244" y="-57381"/>
              <a:chExt cx="812800" cy="75237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-61244" y="-57381"/>
                <a:ext cx="812800" cy="75237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52374">
                    <a:moveTo>
                      <a:pt x="575310" y="0"/>
                    </a:moveTo>
                    <a:lnTo>
                      <a:pt x="812800" y="219834"/>
                    </a:lnTo>
                    <a:lnTo>
                      <a:pt x="812800" y="532540"/>
                    </a:lnTo>
                    <a:lnTo>
                      <a:pt x="575310" y="752374"/>
                    </a:lnTo>
                    <a:lnTo>
                      <a:pt x="237490" y="752374"/>
                    </a:lnTo>
                    <a:lnTo>
                      <a:pt x="0" y="532540"/>
                    </a:lnTo>
                    <a:lnTo>
                      <a:pt x="0" y="219834"/>
                    </a:lnTo>
                    <a:lnTo>
                      <a:pt x="23749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99F12">
                      <a:alpha val="23000"/>
                    </a:srgbClr>
                  </a:gs>
                  <a:gs pos="50000">
                    <a:srgbClr val="074397">
                      <a:alpha val="23000"/>
                    </a:srgbClr>
                  </a:gs>
                  <a:gs pos="100000">
                    <a:srgbClr val="156923">
                      <a:alpha val="23000"/>
                    </a:srgbClr>
                  </a:gs>
                </a:gsLst>
                <a:lin ang="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18745" y="71817"/>
                <a:ext cx="575310" cy="5706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20436480" y="3916408"/>
              <a:ext cx="6814087" cy="6489512"/>
            </a:xfrm>
            <a:custGeom>
              <a:avLst/>
              <a:gdLst/>
              <a:ahLst/>
              <a:cxnLst/>
              <a:rect l="l" t="t" r="r" b="b"/>
              <a:pathLst>
                <a:path w="6814086" h="6489512">
                  <a:moveTo>
                    <a:pt x="0" y="0"/>
                  </a:moveTo>
                  <a:lnTo>
                    <a:pt x="6814086" y="0"/>
                  </a:lnTo>
                  <a:lnTo>
                    <a:pt x="6814086" y="6489513"/>
                  </a:lnTo>
                  <a:lnTo>
                    <a:pt x="0" y="648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334" t="-27092" r="-23138" b="-1633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5" name="Group 15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r>
                  <a:rPr lang="en-US" sz="3200" b="1" dirty="0" err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Hacktivate</a:t>
                </a:r>
                <a:r>
                  <a:rPr lang="en-US" sz="3200" b="1" dirty="0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 syndicate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4770730" y="2185751"/>
              <a:ext cx="5245046" cy="1145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sz="5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Title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3924" y="2126716"/>
              <a:ext cx="12968976" cy="112381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71550" lvl="1" indent="-485775" algn="l">
                <a:lnSpc>
                  <a:spcPts val="11250"/>
                </a:lnSpc>
                <a:buFont typeface="Arial"/>
                <a:buChar char="•"/>
              </a:pP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/ Idea Name: </a:t>
              </a:r>
              <a:r>
                <a:rPr lang="en-US" sz="3200" spc="94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EduPath</a:t>
              </a: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AI</a:t>
              </a:r>
            </a:p>
            <a:p>
              <a:pPr marL="971550" lvl="1" indent="-485775" algn="l">
                <a:lnSpc>
                  <a:spcPts val="11250"/>
                </a:lnSpc>
                <a:buFont typeface="Arial"/>
                <a:buChar char="•"/>
              </a:pP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Name: </a:t>
              </a:r>
              <a:r>
                <a:rPr lang="en-US" sz="3200" spc="94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Hacktivate</a:t>
              </a: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syndicate</a:t>
              </a:r>
            </a:p>
            <a:p>
              <a:pPr marL="971550" lvl="1" indent="-485775" algn="l">
                <a:lnSpc>
                  <a:spcPts val="11250"/>
                </a:lnSpc>
                <a:buFont typeface="Arial"/>
                <a:buChar char="•"/>
              </a:pP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Members: </a:t>
              </a:r>
              <a:r>
                <a:rPr lang="en-US" sz="3200" spc="94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Trupal</a:t>
              </a: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Shende , </a:t>
              </a:r>
              <a:r>
                <a:rPr lang="en-US" sz="3200" spc="94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Yadni</a:t>
              </a: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3200" spc="94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zade</a:t>
              </a: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, Anshul </a:t>
              </a:r>
              <a:r>
                <a:rPr lang="en-US" sz="3200" spc="94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Gaikawad</a:t>
              </a: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, </a:t>
              </a:r>
              <a:r>
                <a:rPr lang="en-US" sz="3200" spc="94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Srusty</a:t>
              </a: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3200" spc="94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Dhoble</a:t>
              </a: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, Dhanashri </a:t>
              </a:r>
              <a:r>
                <a:rPr lang="en-US" sz="3200" spc="94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Yelne</a:t>
              </a:r>
              <a:endParaRPr lang="en-US" sz="3200" spc="9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971550" lvl="1" indent="-485775" algn="l">
                <a:lnSpc>
                  <a:spcPts val="11250"/>
                </a:lnSpc>
                <a:buFont typeface="Arial"/>
                <a:buChar char="•"/>
              </a:pPr>
              <a:r>
                <a:rPr lang="en-US" sz="3200" spc="94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Domain(Emerging technology): ML &amp; GEN AI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460392" y="0"/>
            <a:ext cx="1118174" cy="1143670"/>
            <a:chOff x="0" y="0"/>
            <a:chExt cx="6254966" cy="63975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55004" cy="6397625"/>
            </a:xfrm>
            <a:custGeom>
              <a:avLst/>
              <a:gdLst/>
              <a:ahLst/>
              <a:cxnLst/>
              <a:rect l="l" t="t" r="r" b="b"/>
              <a:pathLst>
                <a:path w="6255004" h="6397625">
                  <a:moveTo>
                    <a:pt x="279400" y="0"/>
                  </a:moveTo>
                  <a:cubicBezTo>
                    <a:pt x="205359" y="0"/>
                    <a:pt x="134239" y="29337"/>
                    <a:pt x="81788" y="81788"/>
                  </a:cubicBezTo>
                  <a:cubicBezTo>
                    <a:pt x="29464" y="134112"/>
                    <a:pt x="0" y="205232"/>
                    <a:pt x="0" y="279400"/>
                  </a:cubicBezTo>
                  <a:lnTo>
                    <a:pt x="0" y="6118225"/>
                  </a:lnTo>
                  <a:cubicBezTo>
                    <a:pt x="0" y="6192266"/>
                    <a:pt x="29464" y="6263386"/>
                    <a:pt x="81788" y="6315837"/>
                  </a:cubicBezTo>
                  <a:cubicBezTo>
                    <a:pt x="134239" y="6368161"/>
                    <a:pt x="205232" y="6397625"/>
                    <a:pt x="279400" y="6397625"/>
                  </a:cubicBezTo>
                  <a:lnTo>
                    <a:pt x="5975604" y="6397625"/>
                  </a:lnTo>
                  <a:cubicBezTo>
                    <a:pt x="6049772" y="6397625"/>
                    <a:pt x="6120765" y="6368161"/>
                    <a:pt x="6173216" y="6315837"/>
                  </a:cubicBezTo>
                  <a:cubicBezTo>
                    <a:pt x="6225667" y="6263386"/>
                    <a:pt x="6255004" y="6192266"/>
                    <a:pt x="6255004" y="6118225"/>
                  </a:cubicBezTo>
                  <a:lnTo>
                    <a:pt x="6255004" y="279400"/>
                  </a:lnTo>
                  <a:cubicBezTo>
                    <a:pt x="6255004" y="205232"/>
                    <a:pt x="6225540" y="134112"/>
                    <a:pt x="6173216" y="81788"/>
                  </a:cubicBezTo>
                  <a:cubicBezTo>
                    <a:pt x="6120765" y="29337"/>
                    <a:pt x="6049645" y="0"/>
                    <a:pt x="5975604" y="0"/>
                  </a:cubicBezTo>
                  <a:close/>
                </a:path>
              </a:pathLst>
            </a:custGeom>
            <a:blipFill>
              <a:blip r:embed="rId7"/>
              <a:stretch>
                <a:fillRect l="-33906" t="-51661" r="-38748" b="-17145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3623748" y="922046"/>
            <a:ext cx="791463" cy="38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sz="2182" b="1" spc="4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IEDC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5996094" y="100230"/>
            <a:ext cx="6295812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F1AEAD-4E44-0324-6868-932EC8D454B2}"/>
              </a:ext>
            </a:extLst>
          </p:cNvPr>
          <p:cNvSpPr txBox="1"/>
          <p:nvPr/>
        </p:nvSpPr>
        <p:spPr>
          <a:xfrm>
            <a:off x="2993478" y="3076327"/>
            <a:ext cx="129785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Engineering students planning to study abroad face confusion in university selection, eligibility criteria, and job market ROI… Develop a Human + AI-assisted overseas guidance framework…</a:t>
            </a:r>
            <a:endParaRPr lang="en-IN" sz="4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2F11BB-C065-7E73-4539-4902BB2A2B23}"/>
              </a:ext>
            </a:extLst>
          </p:cNvPr>
          <p:cNvSpPr txBox="1"/>
          <p:nvPr/>
        </p:nvSpPr>
        <p:spPr>
          <a:xfrm>
            <a:off x="-4567273" y="126994"/>
            <a:ext cx="13214554" cy="134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8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5179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syndicate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7354372" y="-133350"/>
            <a:ext cx="3579257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Need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192C80-867B-005D-BB55-0B0CF2EC6E90}"/>
              </a:ext>
            </a:extLst>
          </p:cNvPr>
          <p:cNvSpPr txBox="1"/>
          <p:nvPr/>
        </p:nvSpPr>
        <p:spPr>
          <a:xfrm>
            <a:off x="2468678" y="2248583"/>
            <a:ext cx="13465277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Growing Demand: Over 7.5 Lakh+ Indian engineering students seek overseas education annually.</a:t>
            </a:r>
          </a:p>
          <a:p>
            <a:endParaRPr lang="en-US" sz="4000" dirty="0"/>
          </a:p>
          <a:p>
            <a:r>
              <a:rPr lang="en-US" sz="4000" dirty="0"/>
              <a:t>Economic Stakes: Average education loan is ₹30L–₹50L; accuracy in selection is non-negotiable.</a:t>
            </a:r>
          </a:p>
          <a:p>
            <a:endParaRPr lang="en-US" sz="4000" dirty="0"/>
          </a:p>
          <a:p>
            <a:r>
              <a:rPr lang="en-US" sz="4000" dirty="0"/>
              <a:t>Service Gap: Current consultancies are manual, slow, and often lack real-time employability data.</a:t>
            </a:r>
          </a:p>
          <a:p>
            <a:endParaRPr lang="en-US" sz="4000" dirty="0"/>
          </a:p>
          <a:p>
            <a:r>
              <a:rPr lang="en-US" sz="4000" dirty="0"/>
              <a:t>Interoperability: Need for a unified system that handles diverse grading systems (CGPA vs. GPA).</a:t>
            </a:r>
            <a:endParaRPr lang="en-IN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240419-3F3D-46AB-BEB6-DC9056511CDA}"/>
              </a:ext>
            </a:extLst>
          </p:cNvPr>
          <p:cNvSpPr txBox="1"/>
          <p:nvPr/>
        </p:nvSpPr>
        <p:spPr>
          <a:xfrm>
            <a:off x="-4567273" y="146260"/>
            <a:ext cx="13214554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517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syndicate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671072" y="-133350"/>
            <a:ext cx="494585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B3C9E5-3B28-1DA0-BBD4-C5914B61B767}"/>
              </a:ext>
            </a:extLst>
          </p:cNvPr>
          <p:cNvSpPr txBox="1"/>
          <p:nvPr/>
        </p:nvSpPr>
        <p:spPr>
          <a:xfrm>
            <a:off x="2426925" y="2376857"/>
            <a:ext cx="132145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Human + AI Hybrid: An AI engine that generates shortlists, validated by human experts.</a:t>
            </a:r>
          </a:p>
          <a:p>
            <a:endParaRPr lang="en-US" sz="3600" dirty="0"/>
          </a:p>
          <a:p>
            <a:r>
              <a:rPr lang="en-US" sz="3600" dirty="0"/>
              <a:t>Predictive Analytics: ML models to predict admission probability and financial ROI.</a:t>
            </a:r>
          </a:p>
          <a:p>
            <a:endParaRPr lang="en-US" sz="3600" dirty="0"/>
          </a:p>
          <a:p>
            <a:r>
              <a:rPr lang="en-US" sz="3600" dirty="0"/>
              <a:t>Multimodal RAG: A "Living Knowledge Base" of global university policies and visa norms.</a:t>
            </a:r>
          </a:p>
          <a:p>
            <a:endParaRPr lang="en-US" sz="3600" dirty="0"/>
          </a:p>
          <a:p>
            <a:r>
              <a:rPr lang="en-US" sz="3600" dirty="0"/>
              <a:t>Automated Profiling: Intelligent extraction of "Skill Graphs" from student resumes/transcripts.</a:t>
            </a:r>
            <a:endParaRPr lang="en-IN" sz="3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2D006C-3DAA-C3F9-583F-93E239F1BC3E}"/>
              </a:ext>
            </a:extLst>
          </p:cNvPr>
          <p:cNvSpPr txBox="1"/>
          <p:nvPr/>
        </p:nvSpPr>
        <p:spPr>
          <a:xfrm>
            <a:off x="-4419600" y="119275"/>
            <a:ext cx="13214554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517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syndicate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4856964" y="-133350"/>
            <a:ext cx="9934695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Prototype/Demo Overview/Working 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Screenshots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1B20B0-D97C-4EE2-D113-8C9EDB09F687}"/>
              </a:ext>
            </a:extLst>
          </p:cNvPr>
          <p:cNvSpPr txBox="1"/>
          <p:nvPr/>
        </p:nvSpPr>
        <p:spPr>
          <a:xfrm>
            <a:off x="2872055" y="2235336"/>
            <a:ext cx="1297858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 </a:t>
            </a:r>
            <a:r>
              <a:rPr lang="en-IN" sz="4000" dirty="0"/>
              <a:t>Student Dashboard: Profile intake, ROI Heatmaps, and AI Chatbot Advisor.</a:t>
            </a:r>
          </a:p>
          <a:p>
            <a:endParaRPr lang="en-IN" sz="4000" dirty="0"/>
          </a:p>
          <a:p>
            <a:r>
              <a:rPr lang="en-IN" sz="4000" dirty="0" err="1"/>
              <a:t>Counselor</a:t>
            </a:r>
            <a:r>
              <a:rPr lang="en-IN" sz="4000" dirty="0"/>
              <a:t> Console: Large-scale dataset management with AI-suggested "Top 5 Matches" per student.</a:t>
            </a:r>
          </a:p>
          <a:p>
            <a:endParaRPr lang="en-IN" sz="4000" dirty="0"/>
          </a:p>
          <a:p>
            <a:r>
              <a:rPr lang="en-IN" sz="4000" dirty="0"/>
              <a:t>ROI Graph: Visual projection of Salary vs. Loan Repayment timeline.</a:t>
            </a:r>
          </a:p>
          <a:p>
            <a:endParaRPr lang="en-IN" sz="4000" dirty="0"/>
          </a:p>
          <a:p>
            <a:r>
              <a:rPr lang="en-IN" sz="4000" dirty="0"/>
              <a:t>Real-time Feedback: Human </a:t>
            </a:r>
            <a:r>
              <a:rPr lang="en-IN" sz="4000" dirty="0" err="1"/>
              <a:t>counselor</a:t>
            </a:r>
            <a:r>
              <a:rPr lang="en-IN" sz="4000" dirty="0"/>
              <a:t> "Approve/Reject" buttons for AI recommendations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43B145-88E9-A092-5408-FE75CDA3FBBB}"/>
              </a:ext>
            </a:extLst>
          </p:cNvPr>
          <p:cNvSpPr txBox="1"/>
          <p:nvPr/>
        </p:nvSpPr>
        <p:spPr>
          <a:xfrm>
            <a:off x="-4633217" y="166791"/>
            <a:ext cx="13214554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517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syndicate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765310" y="-133350"/>
            <a:ext cx="4757380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Stack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F0E4A1-03BE-EDF2-1E21-037887947BE7}"/>
              </a:ext>
            </a:extLst>
          </p:cNvPr>
          <p:cNvSpPr txBox="1"/>
          <p:nvPr/>
        </p:nvSpPr>
        <p:spPr>
          <a:xfrm>
            <a:off x="3068578" y="1820042"/>
            <a:ext cx="1297858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LLM Engine: Gemini 2.5 Flash (for Multimodal Reasoning &amp; RAG).</a:t>
            </a:r>
          </a:p>
          <a:p>
            <a:endParaRPr lang="en-IN" sz="4000" dirty="0"/>
          </a:p>
          <a:p>
            <a:r>
              <a:rPr lang="en-IN" sz="4000" dirty="0"/>
              <a:t>Vector Database: Pinecone (Storing 5000+ university brochures).</a:t>
            </a:r>
          </a:p>
          <a:p>
            <a:endParaRPr lang="en-IN" sz="4000" dirty="0"/>
          </a:p>
          <a:p>
            <a:r>
              <a:rPr lang="en-IN" sz="4000" dirty="0"/>
              <a:t>Backend: Node.js / Python (</a:t>
            </a:r>
            <a:r>
              <a:rPr lang="en-IN" sz="4000" dirty="0" err="1"/>
              <a:t>FastAPI</a:t>
            </a:r>
            <a:r>
              <a:rPr lang="en-IN" sz="4000" dirty="0"/>
              <a:t>).</a:t>
            </a:r>
          </a:p>
          <a:p>
            <a:endParaRPr lang="en-IN" sz="4000" dirty="0"/>
          </a:p>
          <a:p>
            <a:r>
              <a:rPr lang="en-IN" sz="4000" dirty="0"/>
              <a:t>Frontend: React / Tailwind CSS.</a:t>
            </a:r>
          </a:p>
          <a:p>
            <a:endParaRPr lang="en-IN" sz="4000" dirty="0"/>
          </a:p>
          <a:p>
            <a:r>
              <a:rPr lang="en-IN" sz="4000" dirty="0"/>
              <a:t>Database: Firebase (Auth &amp; Real-time student-</a:t>
            </a:r>
            <a:r>
              <a:rPr lang="en-IN" sz="4000" dirty="0" err="1"/>
              <a:t>counselor</a:t>
            </a:r>
            <a:r>
              <a:rPr lang="en-IN" sz="4000" dirty="0"/>
              <a:t> sync).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CC598C-333F-FAD7-DA84-C09B5D089BFD}"/>
              </a:ext>
            </a:extLst>
          </p:cNvPr>
          <p:cNvSpPr txBox="1"/>
          <p:nvPr/>
        </p:nvSpPr>
        <p:spPr>
          <a:xfrm>
            <a:off x="-4528827" y="221164"/>
            <a:ext cx="13214554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517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syndicate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571500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396038" y="-133350"/>
            <a:ext cx="5495925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7412C0-0D8B-4DFD-0C9E-6CE5B7995864}"/>
              </a:ext>
            </a:extLst>
          </p:cNvPr>
          <p:cNvSpPr txBox="1"/>
          <p:nvPr/>
        </p:nvSpPr>
        <p:spPr>
          <a:xfrm>
            <a:off x="2875490" y="2635121"/>
            <a:ext cx="1321455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Data Layer: University PDFs + Job Market Stats -&gt; Vector Embeddings.</a:t>
            </a:r>
          </a:p>
          <a:p>
            <a:endParaRPr lang="en-IN" sz="4000" dirty="0"/>
          </a:p>
          <a:p>
            <a:r>
              <a:rPr lang="en-IN" sz="4000" dirty="0"/>
              <a:t>Processing Layer: Student Input -&gt; Gemini Embedding -&gt; Vector Search -&gt; RAG Output.</a:t>
            </a:r>
          </a:p>
          <a:p>
            <a:endParaRPr lang="en-IN" sz="4000" dirty="0"/>
          </a:p>
          <a:p>
            <a:r>
              <a:rPr lang="en-IN" sz="4000" dirty="0"/>
              <a:t>Validation Layer: AI Output -&gt; Human </a:t>
            </a:r>
            <a:r>
              <a:rPr lang="en-IN" sz="4000" dirty="0" err="1"/>
              <a:t>Counselor</a:t>
            </a:r>
            <a:r>
              <a:rPr lang="en-IN" sz="4000" dirty="0"/>
              <a:t> Review -&gt; Final Verified Recommendation.</a:t>
            </a:r>
          </a:p>
          <a:p>
            <a:endParaRPr lang="en-IN" sz="4000" dirty="0"/>
          </a:p>
          <a:p>
            <a:r>
              <a:rPr lang="en-IN" sz="4000" dirty="0"/>
              <a:t>Output Layer: Interactive Dashboard + ROI Projection.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032259-2D7B-3094-FE1B-98D3802417A6}"/>
              </a:ext>
            </a:extLst>
          </p:cNvPr>
          <p:cNvSpPr txBox="1"/>
          <p:nvPr/>
        </p:nvSpPr>
        <p:spPr>
          <a:xfrm>
            <a:off x="-4528827" y="164872"/>
            <a:ext cx="13214554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517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syndicate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5685889" y="-133350"/>
            <a:ext cx="6916221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Innovation &amp; Uniqueness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7AB38-3B59-8407-7498-1F6608ADB14C}"/>
              </a:ext>
            </a:extLst>
          </p:cNvPr>
          <p:cNvSpPr txBox="1"/>
          <p:nvPr/>
        </p:nvSpPr>
        <p:spPr>
          <a:xfrm>
            <a:off x="2937999" y="1914338"/>
            <a:ext cx="1297858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ROI-First Approach: Focuses on "Time-to-Breakeven" rather than just university rankings.</a:t>
            </a:r>
          </a:p>
          <a:p>
            <a:endParaRPr lang="en-US" sz="4000" dirty="0"/>
          </a:p>
          <a:p>
            <a:r>
              <a:rPr lang="en-US" sz="4000" dirty="0"/>
              <a:t>Skill-Based Matching: Analyzes technical project impact (GitHub/Resumes) instead of just test scores.</a:t>
            </a:r>
          </a:p>
          <a:p>
            <a:endParaRPr lang="en-US" sz="4000" dirty="0"/>
          </a:p>
          <a:p>
            <a:r>
              <a:rPr lang="en-US" sz="4000" dirty="0"/>
              <a:t>RLHF Integration: AI learns from human counselor edits to improve future accuracy.</a:t>
            </a:r>
          </a:p>
          <a:p>
            <a:endParaRPr lang="en-US" sz="4000" dirty="0"/>
          </a:p>
          <a:p>
            <a:r>
              <a:rPr lang="en-US" sz="4000" dirty="0"/>
              <a:t>Contextual RAG: Cites official university sources to eliminate AI hallucinations.</a:t>
            </a:r>
            <a:endParaRPr lang="en-IN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2B1957-2BF9-3506-BC19-16B2AC0756AD}"/>
              </a:ext>
            </a:extLst>
          </p:cNvPr>
          <p:cNvSpPr txBox="1"/>
          <p:nvPr/>
        </p:nvSpPr>
        <p:spPr>
          <a:xfrm>
            <a:off x="-4465107" y="145979"/>
            <a:ext cx="13214554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517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syndicate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57600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7017960" y="-133350"/>
            <a:ext cx="4252079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Modal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942047-BB00-DFFD-430E-2CAF1DB3BF34}"/>
              </a:ext>
            </a:extLst>
          </p:cNvPr>
          <p:cNvSpPr txBox="1"/>
          <p:nvPr/>
        </p:nvSpPr>
        <p:spPr>
          <a:xfrm>
            <a:off x="3118068" y="2756542"/>
            <a:ext cx="129785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B2B SaaS: Subscription-based model for overseas education consultancies (Per Student Credit).</a:t>
            </a:r>
          </a:p>
          <a:p>
            <a:endParaRPr lang="en-IN" sz="4000" dirty="0"/>
          </a:p>
          <a:p>
            <a:r>
              <a:rPr lang="en-IN" sz="4000" dirty="0"/>
              <a:t>B2C Premium: Direct-to-student "AI Plus" plan for deep ROI analytics and document review.</a:t>
            </a:r>
          </a:p>
          <a:p>
            <a:endParaRPr lang="en-IN" sz="4000" dirty="0"/>
          </a:p>
          <a:p>
            <a:r>
              <a:rPr lang="en-IN" sz="4000" dirty="0"/>
              <a:t>B2B2C: Partnerships with education loan providers for pre-approved credit based on ROI score.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9BCA86-AD6E-F685-BAED-FDB319DB265A}"/>
              </a:ext>
            </a:extLst>
          </p:cNvPr>
          <p:cNvSpPr txBox="1"/>
          <p:nvPr/>
        </p:nvSpPr>
        <p:spPr>
          <a:xfrm>
            <a:off x="-4693287" y="142949"/>
            <a:ext cx="13207180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517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syndicate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005393" y="-133350"/>
            <a:ext cx="6277213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&amp; Competitors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60FB9-D3CA-8E70-3458-7860D8586D55}"/>
              </a:ext>
            </a:extLst>
          </p:cNvPr>
          <p:cNvSpPr txBox="1"/>
          <p:nvPr/>
        </p:nvSpPr>
        <p:spPr>
          <a:xfrm>
            <a:off x="2993478" y="2766345"/>
            <a:ext cx="129785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Traditional: IDP, </a:t>
            </a:r>
            <a:r>
              <a:rPr lang="en-IN" sz="4000" dirty="0" err="1"/>
              <a:t>LeapScholar</a:t>
            </a:r>
            <a:r>
              <a:rPr lang="en-IN" sz="4000" dirty="0"/>
              <a:t> (Heavy human dependency, slower turnaround).</a:t>
            </a:r>
          </a:p>
          <a:p>
            <a:endParaRPr lang="en-IN" sz="4000" dirty="0"/>
          </a:p>
          <a:p>
            <a:r>
              <a:rPr lang="en-IN" sz="4000" dirty="0"/>
              <a:t>Niche Tools: </a:t>
            </a:r>
            <a:r>
              <a:rPr lang="en-IN" sz="4000" dirty="0" err="1"/>
              <a:t>Yocket</a:t>
            </a:r>
            <a:r>
              <a:rPr lang="en-IN" sz="4000" dirty="0"/>
              <a:t>, </a:t>
            </a:r>
            <a:r>
              <a:rPr lang="en-IN" sz="4000" dirty="0" err="1"/>
              <a:t>AdmitPredictor</a:t>
            </a:r>
            <a:r>
              <a:rPr lang="en-IN" sz="4000" dirty="0"/>
              <a:t> (Static data, lack of deep multimodal reasoning).</a:t>
            </a:r>
          </a:p>
          <a:p>
            <a:endParaRPr lang="en-IN" sz="4000" dirty="0"/>
          </a:p>
          <a:p>
            <a:r>
              <a:rPr lang="en-IN" sz="4000" dirty="0" err="1"/>
              <a:t>EduPath</a:t>
            </a:r>
            <a:r>
              <a:rPr lang="en-IN" sz="4000" dirty="0"/>
              <a:t> AI Edge: 10x faster processing + Verified ROI data + Human-in-the-loop accuracy.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547567-B285-2F82-4F78-DCC40D0B4F51}"/>
              </a:ext>
            </a:extLst>
          </p:cNvPr>
          <p:cNvSpPr txBox="1"/>
          <p:nvPr/>
        </p:nvSpPr>
        <p:spPr>
          <a:xfrm>
            <a:off x="-4528827" y="471418"/>
            <a:ext cx="13214554" cy="68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 syndicate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7715131" y="-133350"/>
            <a:ext cx="2857738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1C6201-2413-8BA9-68D8-D56A4B7D39B8}"/>
              </a:ext>
            </a:extLst>
          </p:cNvPr>
          <p:cNvSpPr txBox="1"/>
          <p:nvPr/>
        </p:nvSpPr>
        <p:spPr>
          <a:xfrm>
            <a:off x="2528439" y="2881342"/>
            <a:ext cx="129785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Horizontal: Expanding from Engineering to Medicine (MedTech) and Management (MBA) domains.</a:t>
            </a:r>
          </a:p>
          <a:p>
            <a:endParaRPr lang="en-US" sz="4000" dirty="0"/>
          </a:p>
          <a:p>
            <a:r>
              <a:rPr lang="en-US" sz="4000" dirty="0"/>
              <a:t>Vertical: Integrating Visa automation and SOP (Statement of Purpose) AI-review modules.</a:t>
            </a:r>
          </a:p>
          <a:p>
            <a:endParaRPr lang="en-US" sz="4000" dirty="0"/>
          </a:p>
          <a:p>
            <a:r>
              <a:rPr lang="en-US" sz="4000" dirty="0"/>
              <a:t>Geographic: Moving from the Indian market to other high-outflow regions like SE Asia and Africa.</a:t>
            </a:r>
            <a:endParaRPr lang="en-IN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AB113F-B3CE-5EF7-A391-E696325D4822}"/>
              </a:ext>
            </a:extLst>
          </p:cNvPr>
          <p:cNvSpPr txBox="1"/>
          <p:nvPr/>
        </p:nvSpPr>
        <p:spPr>
          <a:xfrm>
            <a:off x="-4528827" y="328402"/>
            <a:ext cx="13214554" cy="66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syndicate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842165" y="-133350"/>
            <a:ext cx="4603671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Chalanges Faced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2277BD-6DB6-908F-9908-06A284353A8F}"/>
              </a:ext>
            </a:extLst>
          </p:cNvPr>
          <p:cNvSpPr txBox="1"/>
          <p:nvPr/>
        </p:nvSpPr>
        <p:spPr>
          <a:xfrm>
            <a:off x="2740558" y="2743023"/>
            <a:ext cx="129785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Data Normalization: Converting non-standardized university grading systems (CGPA to 4.0 scale).</a:t>
            </a:r>
          </a:p>
          <a:p>
            <a:endParaRPr lang="en-US" sz="4000" dirty="0"/>
          </a:p>
          <a:p>
            <a:r>
              <a:rPr lang="en-US" sz="4000" dirty="0"/>
              <a:t>Real-time Accuracy: Keeping up with rapidly changing visa and post-study work policies.</a:t>
            </a:r>
          </a:p>
          <a:p>
            <a:endParaRPr lang="en-US" sz="4000" dirty="0"/>
          </a:p>
          <a:p>
            <a:r>
              <a:rPr lang="en-US" sz="4000" dirty="0"/>
              <a:t>Explainability: Ensuring the AI can explain why a university was selected to gain user trust</a:t>
            </a:r>
            <a:r>
              <a:rPr lang="en-US" sz="3200" dirty="0"/>
              <a:t>.</a:t>
            </a:r>
            <a:endParaRPr lang="en-IN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F975A-571A-9CA1-9A8D-D55542F3253E}"/>
              </a:ext>
            </a:extLst>
          </p:cNvPr>
          <p:cNvSpPr txBox="1"/>
          <p:nvPr/>
        </p:nvSpPr>
        <p:spPr>
          <a:xfrm>
            <a:off x="-4567273" y="393785"/>
            <a:ext cx="13214554" cy="66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syndicate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812578" y="-133350"/>
            <a:ext cx="4662845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Roadmap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C2D5E0-3796-FFE6-65DF-FBAD20D60058}"/>
              </a:ext>
            </a:extLst>
          </p:cNvPr>
          <p:cNvSpPr txBox="1"/>
          <p:nvPr/>
        </p:nvSpPr>
        <p:spPr>
          <a:xfrm>
            <a:off x="3068578" y="2487502"/>
            <a:ext cx="129785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Phase 1: Launch MVP for Engineering (USA, UK, Germany).</a:t>
            </a:r>
          </a:p>
          <a:p>
            <a:endParaRPr lang="en-IN" sz="4000" dirty="0"/>
          </a:p>
          <a:p>
            <a:r>
              <a:rPr lang="en-IN" sz="4000" dirty="0"/>
              <a:t>Phase 2: Integrate Alumni-Peer matching via AI.</a:t>
            </a:r>
          </a:p>
          <a:p>
            <a:endParaRPr lang="en-IN" sz="4000" dirty="0"/>
          </a:p>
          <a:p>
            <a:r>
              <a:rPr lang="en-IN" sz="4000" dirty="0"/>
              <a:t>Phase 3: Direct university API integration for one-click application filing.</a:t>
            </a:r>
          </a:p>
          <a:p>
            <a:endParaRPr lang="en-IN" sz="4000" dirty="0"/>
          </a:p>
          <a:p>
            <a:r>
              <a:rPr lang="en-IN" sz="4000" dirty="0"/>
              <a:t>Phase 4: AI-assisted Scholarship discovery and auto-application</a:t>
            </a:r>
            <a:r>
              <a:rPr lang="en-IN" sz="32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E0AC42-FDCF-90B3-CC01-C04B75E32164}"/>
              </a:ext>
            </a:extLst>
          </p:cNvPr>
          <p:cNvSpPr txBox="1"/>
          <p:nvPr/>
        </p:nvSpPr>
        <p:spPr>
          <a:xfrm>
            <a:off x="-4528827" y="385497"/>
            <a:ext cx="13214554" cy="66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syndicate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27432" y="-126994"/>
            <a:ext cx="24606138" cy="10471039"/>
            <a:chOff x="882695" y="410289"/>
            <a:chExt cx="32808184" cy="13961385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13255"/>
              <a:ext cx="3871244" cy="2089418"/>
              <a:chOff x="0" y="-19050"/>
              <a:chExt cx="1541240" cy="8318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0" y="-19050"/>
                <a:ext cx="126214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5836384" y="-133350"/>
            <a:ext cx="6615232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Social/Industrial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377D90-4D9D-D050-A0C7-05D28871BA59}"/>
              </a:ext>
            </a:extLst>
          </p:cNvPr>
          <p:cNvSpPr txBox="1"/>
          <p:nvPr/>
        </p:nvSpPr>
        <p:spPr>
          <a:xfrm>
            <a:off x="2753814" y="2541168"/>
            <a:ext cx="132145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Financial Literacy: Empowers students to make debt-conscious education choices.</a:t>
            </a:r>
          </a:p>
          <a:p>
            <a:endParaRPr lang="en-US" sz="3600" dirty="0"/>
          </a:p>
          <a:p>
            <a:r>
              <a:rPr lang="en-US" sz="3600" dirty="0"/>
              <a:t>Efficiency: Reduces counselor workload by 80%, allowing focus on high-impact mentorship.</a:t>
            </a:r>
          </a:p>
          <a:p>
            <a:endParaRPr lang="en-US" sz="3600" dirty="0"/>
          </a:p>
          <a:p>
            <a:r>
              <a:rPr lang="en-US" sz="3600" dirty="0"/>
              <a:t>Democratization: Provides Tier-2/Tier-3 city students with "Metro-level" counseling expertise.</a:t>
            </a:r>
          </a:p>
          <a:p>
            <a:endParaRPr lang="en-US" sz="3600" dirty="0"/>
          </a:p>
          <a:p>
            <a:r>
              <a:rPr lang="en-US" sz="3600" dirty="0"/>
              <a:t>Industry Alignment: Better matching of student skills to global market requirements</a:t>
            </a:r>
            <a:r>
              <a:rPr lang="en-US" sz="3200" dirty="0"/>
              <a:t>.</a:t>
            </a:r>
            <a:endParaRPr lang="en-IN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3818A8-5DDB-B36D-E630-1AB347DBD66A}"/>
              </a:ext>
            </a:extLst>
          </p:cNvPr>
          <p:cNvSpPr txBox="1"/>
          <p:nvPr/>
        </p:nvSpPr>
        <p:spPr>
          <a:xfrm>
            <a:off x="-4442085" y="79764"/>
            <a:ext cx="13059696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517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syndicate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89453" y="-434711"/>
            <a:ext cx="25944440" cy="11156421"/>
            <a:chOff x="0" y="0"/>
            <a:chExt cx="34592586" cy="14875228"/>
          </a:xfrm>
        </p:grpSpPr>
        <p:sp>
          <p:nvSpPr>
            <p:cNvPr id="3" name="Freeform 3"/>
            <p:cNvSpPr/>
            <p:nvPr/>
          </p:nvSpPr>
          <p:spPr>
            <a:xfrm>
              <a:off x="13459072" y="3783170"/>
              <a:ext cx="7674442" cy="7308888"/>
            </a:xfrm>
            <a:custGeom>
              <a:avLst/>
              <a:gdLst/>
              <a:ahLst/>
              <a:cxnLst/>
              <a:rect l="l" t="t" r="r" b="b"/>
              <a:pathLst>
                <a:path w="7674442" h="7308888">
                  <a:moveTo>
                    <a:pt x="0" y="0"/>
                  </a:moveTo>
                  <a:lnTo>
                    <a:pt x="7674442" y="0"/>
                  </a:lnTo>
                  <a:lnTo>
                    <a:pt x="7674442" y="7308888"/>
                  </a:lnTo>
                  <a:lnTo>
                    <a:pt x="0" y="7308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4334" t="-27092" r="-23138" b="-16336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6331775">
              <a:off x="-2354446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400000">
              <a:off x="-2496982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5400000">
              <a:off x="-2287893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6331775">
              <a:off x="23078914" y="4611317"/>
              <a:ext cx="13868118" cy="5652595"/>
            </a:xfrm>
            <a:custGeom>
              <a:avLst/>
              <a:gdLst/>
              <a:ahLst/>
              <a:cxnLst/>
              <a:rect l="l" t="t" r="r" b="b"/>
              <a:pathLst>
                <a:path w="13868118" h="5652595">
                  <a:moveTo>
                    <a:pt x="0" y="0"/>
                  </a:moveTo>
                  <a:lnTo>
                    <a:pt x="13868118" y="0"/>
                  </a:lnTo>
                  <a:lnTo>
                    <a:pt x="13868118" y="5652595"/>
                  </a:lnTo>
                  <a:lnTo>
                    <a:pt x="0" y="565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93982" r="-24076" b="-16456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5400000">
              <a:off x="22936378" y="3789966"/>
              <a:ext cx="13716000" cy="6956645"/>
            </a:xfrm>
            <a:custGeom>
              <a:avLst/>
              <a:gdLst/>
              <a:ahLst/>
              <a:cxnLst/>
              <a:rect l="l" t="t" r="r" b="b"/>
              <a:pathLst>
                <a:path w="13716000" h="6956645">
                  <a:moveTo>
                    <a:pt x="0" y="0"/>
                  </a:moveTo>
                  <a:lnTo>
                    <a:pt x="13716000" y="0"/>
                  </a:lnTo>
                  <a:lnTo>
                    <a:pt x="13716000" y="6956645"/>
                  </a:lnTo>
                  <a:lnTo>
                    <a:pt x="0" y="695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18835" r="-24076" b="-24966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5400000">
              <a:off x="23145467" y="3580877"/>
              <a:ext cx="13716000" cy="7374824"/>
            </a:xfrm>
            <a:custGeom>
              <a:avLst/>
              <a:gdLst/>
              <a:ahLst/>
              <a:cxnLst/>
              <a:rect l="l" t="t" r="r" b="b"/>
              <a:pathLst>
                <a:path w="13716000" h="7374824">
                  <a:moveTo>
                    <a:pt x="0" y="0"/>
                  </a:moveTo>
                  <a:lnTo>
                    <a:pt x="13716000" y="0"/>
                  </a:lnTo>
                  <a:lnTo>
                    <a:pt x="13716000" y="7374824"/>
                  </a:lnTo>
                  <a:lnTo>
                    <a:pt x="0" y="73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 l="-24076" t="-233619" r="-24076" b="-13986"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5488251" y="761104"/>
              <a:ext cx="3871244" cy="2041569"/>
              <a:chOff x="0" y="0"/>
              <a:chExt cx="154124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4124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41240" h="812800">
                    <a:moveTo>
                      <a:pt x="770620" y="0"/>
                    </a:moveTo>
                    <a:cubicBezTo>
                      <a:pt x="345018" y="0"/>
                      <a:pt x="0" y="181951"/>
                      <a:pt x="0" y="406400"/>
                    </a:cubicBezTo>
                    <a:cubicBezTo>
                      <a:pt x="0" y="630849"/>
                      <a:pt x="345018" y="812800"/>
                      <a:pt x="770620" y="812800"/>
                    </a:cubicBezTo>
                    <a:cubicBezTo>
                      <a:pt x="1196221" y="812800"/>
                      <a:pt x="1541240" y="630849"/>
                      <a:pt x="1541240" y="406400"/>
                    </a:cubicBezTo>
                    <a:cubicBezTo>
                      <a:pt x="1541240" y="181951"/>
                      <a:pt x="1196221" y="0"/>
                      <a:pt x="77062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491" y="-19050"/>
                <a:ext cx="1252257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179"/>
                  </a:lnSpc>
                </a:pPr>
                <a:endParaRPr lang="en-US" sz="36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7626608" y="-133350"/>
            <a:ext cx="3034784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20F6D7-BCB4-ED7A-8ED2-68FA2B5E6CE0}"/>
              </a:ext>
            </a:extLst>
          </p:cNvPr>
          <p:cNvSpPr txBox="1"/>
          <p:nvPr/>
        </p:nvSpPr>
        <p:spPr>
          <a:xfrm>
            <a:off x="2706145" y="2273764"/>
            <a:ext cx="1297858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400" dirty="0"/>
          </a:p>
          <a:p>
            <a:r>
              <a:rPr lang="en-US" sz="4400" dirty="0" err="1"/>
              <a:t>EduPath</a:t>
            </a:r>
            <a:r>
              <a:rPr lang="en-US" sz="4400" dirty="0"/>
              <a:t> AI is redefining the overseas education funnel.</a:t>
            </a:r>
          </a:p>
          <a:p>
            <a:endParaRPr lang="en-US" sz="4400" dirty="0"/>
          </a:p>
          <a:p>
            <a:r>
              <a:rPr lang="en-US" sz="4400" dirty="0"/>
              <a:t>Vision: To eliminate "Decision Fatigue" and ensure every student gets a high-ROI global education.</a:t>
            </a:r>
          </a:p>
          <a:p>
            <a:endParaRPr lang="en-US" sz="4400" dirty="0"/>
          </a:p>
          <a:p>
            <a:r>
              <a:rPr lang="en-US" sz="4400" dirty="0"/>
              <a:t>Impact: A data-driven, scalable framework that bridges the gap between ambition and employability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9FCA2-6058-4173-D59F-5AC2437F9A32}"/>
              </a:ext>
            </a:extLst>
          </p:cNvPr>
          <p:cNvSpPr txBox="1"/>
          <p:nvPr/>
        </p:nvSpPr>
        <p:spPr>
          <a:xfrm>
            <a:off x="-4567273" y="106374"/>
            <a:ext cx="13214554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Hacktivate</a:t>
            </a: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517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syndicate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819</Words>
  <Application>Microsoft Office PowerPoint</Application>
  <PresentationFormat>Custom</PresentationFormat>
  <Paragraphs>132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Kindly keep the maximum slides limit up to 10-12 Try to avoid paragraphs and post your idea in points /diagrams / Infographics /pictures Keep your explanation precise and easy to understand You can only use provided template for making the PPT without</dc:title>
  <dc:creator>YADNI ZADE</dc:creator>
  <cp:lastModifiedBy>YADNI ZADE</cp:lastModifiedBy>
  <cp:revision>2</cp:revision>
  <dcterms:created xsi:type="dcterms:W3CDTF">2006-08-16T00:00:00Z</dcterms:created>
  <dcterms:modified xsi:type="dcterms:W3CDTF">2026-02-15T02:25:03Z</dcterms:modified>
  <dc:identifier>DAHAQmswnF0</dc:identifier>
</cp:coreProperties>
</file>